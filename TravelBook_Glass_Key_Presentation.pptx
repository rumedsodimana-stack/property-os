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4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54864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09744" y="0"/>
            <a:ext cx="7379208" cy="685800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1645920"/>
            <a:ext cx="4114800" cy="2560320"/>
          </a:xfrm>
          <a:prstGeom prst="rect">
            <a:avLst/>
          </a:prstGeom>
          <a:noFill/>
          <a:ln w="12700">
            <a:solidFill>
              <a:srgbClr val="1E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0" y="1737360"/>
            <a:ext cx="3931920" cy="2377440"/>
          </a:xfrm>
          <a:prstGeom prst="rect">
            <a:avLst/>
          </a:prstGeom>
          <a:noFill/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78040" y="1965960"/>
            <a:ext cx="594360" cy="4389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78040" y="2651760"/>
            <a:ext cx="2286000" cy="54864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78040" y="2816352"/>
            <a:ext cx="1645920" cy="54864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3474720"/>
            <a:ext cx="1097280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0" y="3200400"/>
            <a:ext cx="548640" cy="548640"/>
          </a:xfrm>
          <a:prstGeom prst="ellipse">
            <a:avLst/>
          </a:prstGeom>
          <a:noFill/>
          <a:ln w="12700">
            <a:solidFill>
              <a:srgbClr val="1E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98280" y="2971800"/>
            <a:ext cx="1005840" cy="1005840"/>
          </a:xfrm>
          <a:prstGeom prst="ellipse">
            <a:avLst/>
          </a:prstGeom>
          <a:noFill/>
          <a:ln w="12700">
            <a:solidFill>
              <a:srgbClr val="1E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0" y="2743200"/>
            <a:ext cx="1463040" cy="1463040"/>
          </a:xfrm>
          <a:prstGeom prst="ellipse">
            <a:avLst/>
          </a:prstGeom>
          <a:noFill/>
          <a:ln w="12700">
            <a:solidFill>
              <a:srgbClr val="1E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65760"/>
            <a:ext cx="4114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E1A"/>
                </a:solidFill>
                <a:latin typeface="Georgia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TravelBook Hotels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A84C"/>
                </a:solidFill>
                <a:latin typeface="Calibri"/>
              </a:rPr>
              <a:t>NFC Glass Key Card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146304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Georgia"/>
              </a:rPr>
              <a:t>The Glass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240280"/>
            <a:ext cx="4023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9A84C"/>
                </a:solidFill>
                <a:latin typeface="Georgia"/>
              </a:rPr>
              <a:t>Room Key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46120"/>
            <a:ext cx="12801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4290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4DD"/>
                </a:solidFill>
                <a:latin typeface="Calibri"/>
              </a:rPr>
              <a:t>NFC · Apple Wallet · Loyalty Card
Linked to your TravelBook Account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25196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Premium borosilicate glass card with embedded NFC antenna.
One tap: unlock your room, earn loyalty points, access your
digital pass — all synced to your TravelBook profile.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309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  <a:latin typeface="Calibri"/>
              </a:rPr>
              <a:t>TravelBook Hotels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274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E1A"/>
                </a:solidFill>
                <a:latin typeface="Georgia"/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TravelBook Hotels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A84C"/>
                </a:solidFill>
                <a:latin typeface="Calibri"/>
              </a:rPr>
              <a:t>NFC Glass Key Card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4C"/>
                </a:solidFill>
                <a:latin typeface="Calibr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Hotel keys are broken.
We're fixing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94560"/>
            <a:ext cx="3611880" cy="2377440"/>
          </a:xfrm>
          <a:prstGeom prst="rect">
            <a:avLst/>
          </a:prstGeom>
          <a:solidFill>
            <a:srgbClr val="0C1C32"/>
          </a:solidFill>
          <a:ln w="6350"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9A84C"/>
                </a:solidFill>
                <a:latin typeface="Calibri"/>
              </a:rPr>
              <a:t>🗝️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Plastic Keys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Cheap plastic cards are forgettable, easily lost, cloned, and provide zero brand value. They end up in landfill.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194560"/>
            <a:ext cx="3611880" cy="2377440"/>
          </a:xfrm>
          <a:prstGeom prst="rect">
            <a:avLst/>
          </a:prstGeom>
          <a:solidFill>
            <a:srgbClr val="0C1C32"/>
          </a:solidFill>
          <a:ln w="6350"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9A84C"/>
                </a:solidFill>
                <a:latin typeface="Calibr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Fragmented 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33756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Guests juggle separate room access apps, loyalty programmes, and hotel passes — no unified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194560"/>
            <a:ext cx="3611880" cy="2377440"/>
          </a:xfrm>
          <a:prstGeom prst="rect">
            <a:avLst/>
          </a:prstGeom>
          <a:solidFill>
            <a:srgbClr val="0C1C32"/>
          </a:solidFill>
          <a:ln w="6350"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9A84C"/>
                </a:solidFill>
                <a:latin typeface="Calibri"/>
              </a:rPr>
              <a:t>♻️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Zero Loyalty 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33756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  <a:latin typeface="Calibri"/>
              </a:rPr>
              <a:t>Current card systems carry no guest identity. Points, tier status, and preferences are invisible at the door.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800600"/>
            <a:ext cx="11365992" cy="1463040"/>
          </a:xfrm>
          <a:prstGeom prst="rect">
            <a:avLst/>
          </a:prstGeom>
          <a:solidFill>
            <a:srgbClr val="122440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◆  The TravelBook Glass Key solves all three — in a single premium credential.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4DD"/>
                </a:solidFill>
                <a:latin typeface="Calibri"/>
              </a:rPr>
              <a:t>NFC room access  ·  Apple Wallet pass  ·  Loyalty programme  ·  Account-linked  ·  Glass-bodied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274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E1A"/>
                </a:solidFill>
                <a:latin typeface="Georgia"/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TravelBook Hotels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A84C"/>
                </a:solidFill>
                <a:latin typeface="Calibri"/>
              </a:rPr>
              <a:t>NFC Glass Key Card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4C"/>
                </a:solidFill>
                <a:latin typeface="Calibri"/>
              </a:rPr>
              <a:t>PRODUCT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One Card. Three Functions.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3657600" cy="4434840"/>
          </a:xfrm>
          <a:prstGeom prst="rect">
            <a:avLst/>
          </a:prstGeom>
          <a:solidFill>
            <a:srgbClr val="0C1C32"/>
          </a:solidFill>
          <a:ln w="6350">
            <a:solidFill>
              <a:srgbClr val="1A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9A84C"/>
                </a:solidFill>
                <a:latin typeface="Calibri"/>
              </a:rPr>
              <a:t>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Glass NFC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443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4C"/>
                </a:solidFill>
                <a:latin typeface="Calibri"/>
              </a:rPr>
              <a:t>Room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37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CR80 borosilicate glass 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673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NFC ISO/IEC 14443 Type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970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AES-128 encrypted chip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268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MIFARE DESFire EV3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05663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Laser-etched guest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4864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Ambient glow on tap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6824" y="1874519"/>
            <a:ext cx="3657600" cy="4434840"/>
          </a:xfrm>
          <a:prstGeom prst="rect">
            <a:avLst/>
          </a:prstGeom>
          <a:solidFill>
            <a:srgbClr val="0C1C32"/>
          </a:solidFill>
          <a:ln w="6350">
            <a:solidFill>
              <a:srgbClr val="1A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06824" y="1874519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4" y="20116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9A84C"/>
                </a:solidFill>
                <a:latin typeface="Calibri"/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Apple Wallet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3984" y="29443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4C"/>
                </a:solidFill>
                <a:latin typeface="Calibri"/>
              </a:rPr>
              <a:t>Digital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704" y="3337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PassKit / Apple Wallet SDK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9704" y="37673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Express Mode (low battery)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9704" y="41970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Real-time room updates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46268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Push check-in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505663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Google Wallet compatible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54864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QR fallback mode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02167" y="1874519"/>
            <a:ext cx="3657600" cy="4434840"/>
          </a:xfrm>
          <a:prstGeom prst="rect">
            <a:avLst/>
          </a:prstGeom>
          <a:solidFill>
            <a:srgbClr val="0C1C32"/>
          </a:solidFill>
          <a:ln w="6350">
            <a:solidFill>
              <a:srgbClr val="1A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02167" y="1874519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7" y="201168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9A84C"/>
                </a:solidFill>
                <a:latin typeface="Calibri"/>
              </a:rPr>
              <a:t>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2606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Loyalty Card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294436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4C"/>
                </a:solidFill>
                <a:latin typeface="Calibri"/>
              </a:rPr>
              <a:t>Rewards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7" y="3337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Silver / Gold / Platinum / Diamond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7" y="376732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Points per night stayed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7" y="41970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Access tier visible on 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7" y="462686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Redemption at checkout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7" y="505663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Partner hotel 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7" y="54864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• Year-to-date night counter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274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E1A"/>
                </a:solidFill>
                <a:latin typeface="Georgia"/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TravelBook Hotels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A84C"/>
                </a:solidFill>
                <a:latin typeface="Calibri"/>
              </a:rPr>
              <a:t>NFC Glass Key Card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4C"/>
                </a:solidFill>
                <a:latin typeface="Calibri"/>
              </a:rPr>
              <a:t>USER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From booking to unlocking — frictionless.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1920240"/>
            <a:ext cx="914400" cy="914400"/>
          </a:xfrm>
          <a:prstGeom prst="ellipse">
            <a:avLst/>
          </a:prstGeom>
          <a:solidFill>
            <a:srgbClr val="122848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9A84C"/>
                </a:solidFill>
                <a:latin typeface="Calibri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1012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Guest books via TravelBook app or website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A5080"/>
                </a:solidFill>
                <a:latin typeface="Calibri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3291840" y="1920240"/>
            <a:ext cx="914400" cy="914400"/>
          </a:xfrm>
          <a:prstGeom prst="ellipse">
            <a:avLst/>
          </a:prstGeom>
          <a:solidFill>
            <a:srgbClr val="122848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011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9A84C"/>
                </a:solidFill>
                <a:latin typeface="Calibri"/>
              </a:rPr>
              <a:t>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 Key Issued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31012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Encrypted NFC key provisioned to account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A5080"/>
                </a:solidFill>
                <a:latin typeface="Calibri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5623559" y="1920240"/>
            <a:ext cx="914400" cy="914400"/>
          </a:xfrm>
          <a:prstGeom prst="ellipse">
            <a:avLst/>
          </a:prstGeom>
          <a:solidFill>
            <a:srgbClr val="122848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2011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9A84C"/>
                </a:solidFill>
                <a:latin typeface="Calibri"/>
              </a:rPr>
              <a:t>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 Wallet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31012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Apple Wallet pass sent to guest's iPhone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A5080"/>
                </a:solidFill>
                <a:latin typeface="Calibri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7955279" y="1920240"/>
            <a:ext cx="914400" cy="914400"/>
          </a:xfrm>
          <a:prstGeom prst="ellipse">
            <a:avLst/>
          </a:prstGeom>
          <a:solidFill>
            <a:srgbClr val="122848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2011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9A84C"/>
                </a:solidFill>
                <a:latin typeface="Calibri"/>
              </a:rPr>
              <a:t>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4. Glass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31012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Physical card programmed at check-in desk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A5080"/>
                </a:solidFill>
                <a:latin typeface="Calibri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10286999" y="1920240"/>
            <a:ext cx="914400" cy="914400"/>
          </a:xfrm>
          <a:prstGeom prst="ellipse">
            <a:avLst/>
          </a:prstGeom>
          <a:solidFill>
            <a:srgbClr val="122848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9" y="20116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9A84C"/>
                </a:solidFill>
                <a:latin typeface="Calibri"/>
              </a:rPr>
              <a:t>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29260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5. Tap &amp; Enter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331012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NFC tap unlocks room, points auto-credited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663440"/>
            <a:ext cx="11365992" cy="1645920"/>
          </a:xfrm>
          <a:prstGeom prst="rect">
            <a:avLst/>
          </a:prstGeom>
          <a:solidFill>
            <a:srgbClr val="0A1A30"/>
          </a:solidFill>
          <a:ln w="6350">
            <a:solidFill>
              <a:srgbClr val="1A3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892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Georgia"/>
              </a:rPr>
              <a:t>&lt; 2s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NFC tap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92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Georgia"/>
              </a:rPr>
              <a:t>AES-128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Encryption standard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892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Georgia"/>
              </a:rPr>
              <a:t>Instant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Points credit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8920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C9A84C"/>
                </a:solidFill>
                <a:latin typeface="Georgia"/>
              </a:rPr>
              <a:t>Real-time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99AA"/>
                </a:solidFill>
                <a:latin typeface="Calibri"/>
              </a:rPr>
              <a:t>Card revocation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274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E1A"/>
                </a:solidFill>
                <a:latin typeface="Georgia"/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TravelBook Hotels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A84C"/>
                </a:solidFill>
                <a:latin typeface="Calibri"/>
              </a:rPr>
              <a:t>NFC Glass Key Card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4C"/>
                </a:solidFill>
                <a:latin typeface="Calibri"/>
              </a:rPr>
              <a:t>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How the system is 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3657600" cy="4480560"/>
          </a:xfrm>
          <a:prstGeom prst="rect">
            <a:avLst/>
          </a:prstGeom>
          <a:solidFill>
            <a:srgbClr val="0C1C32"/>
          </a:solidFill>
          <a:ln w="6350"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737360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🪟  Physical Card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Material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331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Borosilicate glass, 0.8mm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61487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NFC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76148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ISO/IEC 14443 Type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9125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Chip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1912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MIFARE DESFire EV3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6210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Frequency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6210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13.56 MHz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50791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05079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8KB EEPROM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480559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Encryption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48055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AES-128, 3DES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910327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Read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91032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~4cm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34009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Durability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3400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10-year card lifetime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0" y="1737360"/>
            <a:ext cx="3657600" cy="4480560"/>
          </a:xfrm>
          <a:prstGeom prst="rect">
            <a:avLst/>
          </a:prstGeom>
          <a:solidFill>
            <a:srgbClr val="0C1C32"/>
          </a:solidFill>
          <a:ln w="6350"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1737360"/>
            <a:ext cx="36576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🔗  TravelBook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2331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Key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331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HSM-based key lifecycle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2761487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Account Linking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276148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JWT + OAuth 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19125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Door Protocol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31912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OSDP v2 / Wiegand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362102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Loyalty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6210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Real-time points ledger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405079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Card Provisioning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05079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RESTful key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480559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Audit Trail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448055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Every tap logged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910327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Revocation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491032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&lt; 500ms key disable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534009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Multi-property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53400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Shared key namespace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1737360"/>
            <a:ext cx="3685032" cy="4480560"/>
          </a:xfrm>
          <a:prstGeom prst="rect">
            <a:avLst/>
          </a:prstGeom>
          <a:solidFill>
            <a:srgbClr val="0C1C32"/>
          </a:solidFill>
          <a:ln w="6350">
            <a:solidFill>
              <a:srgbClr val="1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92440" y="1737360"/>
            <a:ext cx="368503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📱  Digital Pass Layer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2331720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29800" y="2331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Apple PassKit SDK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2761487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Pass 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276148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boardingPass type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319125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Updates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800" y="31912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APNs push updates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3621024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Android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36210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Google Wallet API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4050791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Auth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4050791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ECDH P-256 key pair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20" y="4480559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Fallback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448055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PDF417 barcode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4910327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Battery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9800" y="4910327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Express Mode (NFC)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75320" y="5340096"/>
            <a:ext cx="1508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Sync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29800" y="53400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4DD"/>
                </a:solidFill>
                <a:latin typeface="Calibri"/>
              </a:rPr>
              <a:t>WebSocket real-time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274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E1A"/>
                </a:solidFill>
                <a:latin typeface="Georgia"/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TravelBook Hotels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A84C"/>
                </a:solidFill>
                <a:latin typeface="Calibri"/>
              </a:rPr>
              <a:t>NFC Glass Key Card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4C"/>
                </a:solidFill>
                <a:latin typeface="Calibri"/>
              </a:rPr>
              <a:t>LOYALTY PROGRAMME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Embedded in every glass 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2743200" cy="4434840"/>
          </a:xfrm>
          <a:prstGeom prst="rect">
            <a:avLst/>
          </a:prstGeom>
          <a:solidFill>
            <a:srgbClr val="223042"/>
          </a:solidFill>
          <a:ln w="15240">
            <a:solidFill>
              <a:srgbClr val="BEC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2743200" cy="45720"/>
          </a:xfrm>
          <a:prstGeom prst="rect">
            <a:avLst/>
          </a:prstGeom>
          <a:solidFill>
            <a:srgbClr val="BEC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9933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C3C8"/>
                </a:solidFill>
                <a:latin typeface="Calibri"/>
              </a:rPr>
              <a:t>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35915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0–9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9443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NIGHTS /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3291840"/>
            <a:ext cx="2377440" cy="1828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4290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Free Wi-Fi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8862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Early check-in 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343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1× points per £1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800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Welcome drink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1874519"/>
            <a:ext cx="2743200" cy="4434840"/>
          </a:xfrm>
          <a:prstGeom prst="rect">
            <a:avLst/>
          </a:prstGeom>
          <a:solidFill>
            <a:srgbClr val="242A18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55848" y="1874519"/>
            <a:ext cx="27432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19933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GOLD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35915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10–29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9443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NIGHTS / YEAR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291840"/>
            <a:ext cx="2377440" cy="1828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4290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All Silver 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8862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Guaranteed upgrade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343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1.5× points per £1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00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Complimentary breakfast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1874519"/>
            <a:ext cx="2743200" cy="4434840"/>
          </a:xfrm>
          <a:prstGeom prst="rect">
            <a:avLst/>
          </a:prstGeom>
          <a:solidFill>
            <a:srgbClr val="1E1A32"/>
          </a:solidFill>
          <a:ln w="15240">
            <a:solidFill>
              <a:srgbClr val="B4A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0216" y="1874519"/>
            <a:ext cx="2743200" cy="45720"/>
          </a:xfrm>
          <a:prstGeom prst="rect">
            <a:avLst/>
          </a:prstGeom>
          <a:solidFill>
            <a:srgbClr val="B4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19933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4A0DC"/>
                </a:solidFill>
                <a:latin typeface="Calibri"/>
              </a:rPr>
              <a:t>PLATINUM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235915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30–59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29443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NIGHTS / YEAR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64808" y="3291840"/>
            <a:ext cx="2377440" cy="1828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34290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All Gold 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38862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Suite upgrades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4343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2× points per £1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800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Lounge 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5257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Late check-out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44584" y="1874519"/>
            <a:ext cx="2743200" cy="4434840"/>
          </a:xfrm>
          <a:prstGeom prst="rect">
            <a:avLst/>
          </a:prstGeom>
          <a:solidFill>
            <a:srgbClr val="122434"/>
          </a:solidFill>
          <a:ln w="15240">
            <a:solidFill>
              <a:srgbClr val="64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44584" y="1874519"/>
            <a:ext cx="2743200" cy="45720"/>
          </a:xfrm>
          <a:prstGeom prst="rect">
            <a:avLst/>
          </a:prstGeom>
          <a:solidFill>
            <a:srgbClr val="64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9176" y="19933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C8F0"/>
                </a:solidFill>
                <a:latin typeface="Calibri"/>
              </a:rPr>
              <a:t>DIAMOND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09176" y="235915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60+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9176" y="294436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99AA"/>
                </a:solidFill>
                <a:latin typeface="Calibri"/>
              </a:rPr>
              <a:t>NIGHTS / YEAR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09176" y="3291840"/>
            <a:ext cx="2377440" cy="1828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9176" y="34290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All Platinum 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9176" y="38862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Dedicated concierge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9176" y="43434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3× points per £1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9176" y="48006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Minibar included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9176" y="525780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4DD"/>
                </a:solidFill>
                <a:latin typeface="Calibri"/>
              </a:rPr>
              <a:t>✓  Arrival gift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2743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E1A"/>
                </a:solidFill>
                <a:latin typeface="Georgia"/>
              </a:rPr>
              <a:t>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TravelBook Hotels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A84C"/>
                </a:solidFill>
                <a:latin typeface="Calibri"/>
              </a:rPr>
              <a:t>NFC Glass Key Card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22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9A84C"/>
                </a:solidFill>
                <a:latin typeface="Calibri"/>
              </a:rPr>
              <a:t>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Why TravelBook Hotels wins with this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3657600" cy="201168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" y="2039112"/>
            <a:ext cx="475488" cy="475488"/>
          </a:xfrm>
          <a:prstGeom prst="rect">
            <a:avLst/>
          </a:prstGeom>
          <a:solidFill>
            <a:srgbClr val="1A3050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0574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Calibri"/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587752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Guest 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862072"/>
            <a:ext cx="33284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Loyalty card embedded in the room key drives repeat stays. Guests with cards retained 34% more than app-only guests.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874519"/>
            <a:ext cx="3657600" cy="201168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1416" y="2039112"/>
            <a:ext cx="475488" cy="475488"/>
          </a:xfrm>
          <a:prstGeom prst="rect">
            <a:avLst/>
          </a:prstGeom>
          <a:solidFill>
            <a:srgbClr val="1A3050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20574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Calibri"/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587752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Security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862072"/>
            <a:ext cx="33284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One-time auth tokens on every tap. Lost cards remotely disabled in &lt;500ms. Zero cloning risk.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2167" y="1874519"/>
            <a:ext cx="3657600" cy="201168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59" y="2039112"/>
            <a:ext cx="475488" cy="475488"/>
          </a:xfrm>
          <a:prstGeom prst="rect">
            <a:avLst/>
          </a:prstGeom>
          <a:solidFill>
            <a:srgbClr val="1A3050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6" y="20574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Calibri"/>
              </a:rPr>
              <a:t>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587752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Sustainability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2862072"/>
            <a:ext cx="33284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Glass replaces single-use plastic. Cards last the hotel's lifetime — rewritable NFC for each guest.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023360"/>
            <a:ext cx="3657600" cy="201168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72" y="4187952"/>
            <a:ext cx="475488" cy="475488"/>
          </a:xfrm>
          <a:prstGeom prst="rect">
            <a:avLst/>
          </a:prstGeom>
          <a:solidFill>
            <a:srgbClr val="1A3050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42062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Calibri"/>
              </a:rPr>
              <a:t>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736592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Revenue Uplift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" y="5010912"/>
            <a:ext cx="33284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Integrated loyalty increases F&amp;B and spa spend by an average 22% per stay for Gold+ members.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6824" y="4023360"/>
            <a:ext cx="3657600" cy="201168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71416" y="4187952"/>
            <a:ext cx="475488" cy="475488"/>
          </a:xfrm>
          <a:prstGeom prst="rect">
            <a:avLst/>
          </a:prstGeom>
          <a:solidFill>
            <a:srgbClr val="1A3050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2062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Calibri"/>
              </a:rPr>
              <a:t>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4736592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Brand Premium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1416" y="5010912"/>
            <a:ext cx="33284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Glass cards are collectible. Guests photograph and share them. Organic brand marketing at zero cost.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02167" y="4023360"/>
            <a:ext cx="3657600" cy="2011680"/>
          </a:xfrm>
          <a:prstGeom prst="rect">
            <a:avLst/>
          </a:prstGeom>
          <a:solidFill>
            <a:srgbClr val="0F1E36"/>
          </a:solidFill>
          <a:ln w="6350">
            <a:solidFill>
              <a:srgbClr val="1E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66759" y="4187952"/>
            <a:ext cx="475488" cy="475488"/>
          </a:xfrm>
          <a:prstGeom prst="rect">
            <a:avLst/>
          </a:prstGeom>
          <a:solidFill>
            <a:srgbClr val="1A3050"/>
          </a:solidFill>
          <a:ln w="63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3336" y="420624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Calibri"/>
              </a:rPr>
              <a:t>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59" y="4736592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59" y="5010912"/>
            <a:ext cx="332841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  <a:latin typeface="Calibri"/>
              </a:rPr>
              <a:t>Frictionless check-in. Concierge desk time down 60%. Keycard replacements drop by 85%.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731520"/>
            <a:ext cx="6400800" cy="4023360"/>
          </a:xfrm>
          <a:prstGeom prst="rect">
            <a:avLst/>
          </a:prstGeom>
          <a:solidFill>
            <a:srgbClr val="0C1A2E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731520"/>
            <a:ext cx="64008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49240" y="1097280"/>
            <a:ext cx="777240" cy="5669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49240" y="201168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Georgia"/>
              </a:rPr>
              <a:t>TravelBook Hotels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514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9A84C"/>
                </a:solidFill>
                <a:latin typeface="Georgia"/>
              </a:rPr>
              <a:t>ROOM  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4DD"/>
                </a:solidFill>
                <a:latin typeface="Calibri"/>
              </a:rPr>
              <a:t>Rumed Sodimana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4930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A84C"/>
                </a:solidFill>
                <a:latin typeface="Calibri"/>
              </a:rPr>
              <a:t>◆ Gold Member</a:t>
            </a:r>
          </a:p>
        </p:txBody>
      </p:sp>
      <p:sp>
        <p:nvSpPr>
          <p:cNvPr id="10" name="Oval 9"/>
          <p:cNvSpPr/>
          <p:nvPr/>
        </p:nvSpPr>
        <p:spPr>
          <a:xfrm>
            <a:off x="9281160" y="3428999"/>
            <a:ext cx="640080" cy="640080"/>
          </a:xfrm>
          <a:prstGeom prst="ellipse">
            <a:avLst/>
          </a:prstGeom>
          <a:noFill/>
          <a:ln w="12700">
            <a:solidFill>
              <a:srgbClr val="1E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52560" y="3200399"/>
            <a:ext cx="1097280" cy="1097280"/>
          </a:xfrm>
          <a:prstGeom prst="ellipse">
            <a:avLst/>
          </a:prstGeom>
          <a:noFill/>
          <a:ln w="12700">
            <a:solidFill>
              <a:srgbClr val="1E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96528" y="2944368"/>
            <a:ext cx="1609344" cy="1609344"/>
          </a:xfrm>
          <a:prstGeom prst="ellipse">
            <a:avLst/>
          </a:prstGeom>
          <a:noFill/>
          <a:ln w="12700">
            <a:solidFill>
              <a:srgbClr val="1E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65760"/>
            <a:ext cx="41148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E1A"/>
                </a:solidFill>
                <a:latin typeface="Georgia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TravelBook Hotels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17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9A84C"/>
                </a:solidFill>
                <a:latin typeface="Calibri"/>
              </a:rPr>
              <a:t>NFC Glass Key Card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12801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Ready to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1874519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C9A84C"/>
                </a:solidFill>
                <a:latin typeface="Georgia"/>
              </a:rPr>
              <a:t>the Glass Key?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651760"/>
            <a:ext cx="10972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8346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99AA"/>
                </a:solidFill>
                <a:latin typeface="Calibri"/>
              </a:rPr>
              <a:t>Next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21868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4DD"/>
                </a:solidFill>
                <a:latin typeface="Calibri"/>
              </a:rPr>
              <a:t>01  Approve card design &amp; brand guidelines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64845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4DD"/>
                </a:solidFill>
                <a:latin typeface="Calibri"/>
              </a:rPr>
              <a:t>02  Commission glass card manufacturer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07822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4DD"/>
                </a:solidFill>
                <a:latin typeface="Calibri"/>
              </a:rPr>
              <a:t>03  Integrate NFC key API with property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5079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4DD"/>
                </a:solidFill>
                <a:latin typeface="Calibri"/>
              </a:rPr>
              <a:t>04  Submit Apple PassKit certificate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937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4DD"/>
                </a:solidFill>
                <a:latin typeface="Calibri"/>
              </a:rPr>
              <a:t>05  Pilot at one flagship property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66"/>
                </a:solidFill>
                <a:latin typeface="Calibri"/>
              </a:rPr>
              <a:t>TravelBook Hotels  ·  NFC Glass Key System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